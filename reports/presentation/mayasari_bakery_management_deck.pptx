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Mayasari Bakery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Executive Management Review —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Business performance and profitability overview</a:t>
            </a:r>
          </a:p>
          <a:p>
            <a:pPr>
              <a:spcAft>
                <a:spcPts val="1200"/>
              </a:spcAft>
              <a:defRPr sz="1800"/>
            </a:pPr>
            <a:r>
              <a:t>Customer value and opportunity analysis</a:t>
            </a:r>
          </a:p>
          <a:p>
            <a:pPr>
              <a:spcAft>
                <a:spcPts val="1200"/>
              </a:spcAft>
              <a:defRPr sz="1800"/>
            </a:pPr>
            <a:r>
              <a:t>Product mix and revenue performance</a:t>
            </a:r>
          </a:p>
          <a:p>
            <a:pPr>
              <a:spcAft>
                <a:spcPts val="1200"/>
              </a:spcAft>
              <a:defRPr sz="1800"/>
            </a:pPr>
            <a:r>
              <a:t>Management priorities for the next 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Current business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761.8M</a:t>
            </a:r>
          </a:p>
          <a:p>
            <a:pPr>
              <a:defRPr sz="1100"/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334.3M</a:t>
            </a:r>
          </a:p>
          <a:p>
            <a:pPr>
              <a:defRPr sz="1100"/>
            </a:pPr>
            <a:r>
              <a:t>Gross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43.88%</a:t>
            </a:r>
          </a:p>
          <a:p>
            <a:pPr>
              <a:defRPr sz="1100"/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166.8M</a:t>
            </a:r>
          </a:p>
          <a:p>
            <a:pPr>
              <a:defRPr sz="1100"/>
            </a:pPr>
            <a:r>
              <a:t>Operating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business generated positive operating profit.</a:t>
            </a:r>
          </a:p>
          <a:p>
            <a:pPr>
              <a:spcAft>
                <a:spcPts val="1200"/>
              </a:spcAft>
              <a:defRPr sz="1800"/>
            </a:pPr>
            <a:r>
              <a:t>Gross margin remains above 40%, providing a meaningful contribution base.</a:t>
            </a:r>
          </a:p>
          <a:p>
            <a:pPr>
              <a:spcAft>
                <a:spcPts val="1200"/>
              </a:spcAft>
              <a:defRPr sz="1800"/>
            </a:pPr>
            <a:r>
              <a:t>Revenue performance shows meaningful month-to-month variation.</a:t>
            </a:r>
          </a:p>
          <a:p>
            <a:pPr>
              <a:spcAft>
                <a:spcPts val="1200"/>
              </a:spcAft>
              <a:defRPr sz="1800"/>
            </a:pPr>
            <a:r>
              <a:t>Customer and product concentration should be managed alongside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Profitability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761.8M</a:t>
            </a:r>
          </a:p>
          <a:p>
            <a:pPr>
              <a:defRPr sz="1100"/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334.3M</a:t>
            </a:r>
          </a:p>
          <a:p>
            <a:pPr>
              <a:defRPr sz="1100"/>
            </a:pPr>
            <a:r>
              <a:t>Gross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Rp 167.5M</a:t>
            </a:r>
          </a:p>
          <a:p>
            <a:pPr>
              <a:defRPr sz="1100"/>
            </a:pPr>
            <a:r>
              <a:t>Operating Expense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554480"/>
            <a:ext cx="2651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21.89%</a:t>
            </a:r>
          </a:p>
          <a:p>
            <a:pPr>
              <a:defRPr sz="1100"/>
            </a:pPr>
            <a:r>
              <a:t>Operating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Gross profit contribution: Rp 334.3M.</a:t>
            </a:r>
          </a:p>
          <a:p>
            <a:pPr>
              <a:spcAft>
                <a:spcPts val="1200"/>
              </a:spcAft>
              <a:defRPr sz="1800"/>
            </a:pPr>
            <a:r>
              <a:t>Operating expenses: Rp 167.5M.</a:t>
            </a:r>
          </a:p>
          <a:p>
            <a:pPr>
              <a:spcAft>
                <a:spcPts val="1200"/>
              </a:spcAft>
              <a:defRPr sz="1800"/>
            </a:pPr>
            <a:r>
              <a:t>Operating profit: Rp 166.8M.</a:t>
            </a:r>
          </a:p>
          <a:p>
            <a:pPr>
              <a:spcAft>
                <a:spcPts val="1200"/>
              </a:spcAft>
              <a:defRPr sz="1800"/>
            </a:pPr>
            <a:r>
              <a:t>Priority: protect margin while pursuing sustainable revenue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Monthly revenue trend and performance</a:t>
            </a:r>
          </a:p>
        </p:txBody>
      </p:sp>
      <p:pic>
        <p:nvPicPr>
          <p:cNvPr id="4" name="Picture 3" descr="revenu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900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Management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What management should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Peak revenue: 2025-12 at Rp 77.9M.</a:t>
            </a:r>
          </a:p>
          <a:p>
            <a:pPr>
              <a:spcAft>
                <a:spcPts val="1200"/>
              </a:spcAft>
              <a:defRPr sz="1800"/>
            </a:pPr>
            <a:r>
              <a:t>Lowest revenue: 2025-02 at Rp 57.1M.</a:t>
            </a:r>
          </a:p>
          <a:p>
            <a:pPr>
              <a:spcAft>
                <a:spcPts val="1200"/>
              </a:spcAft>
              <a:defRPr sz="1800"/>
            </a:pPr>
            <a:r>
              <a:t>December showed the strongest monthly growth at approximately +26.45%.</a:t>
            </a:r>
          </a:p>
          <a:p>
            <a:pPr>
              <a:spcAft>
                <a:spcPts val="1200"/>
              </a:spcAft>
              <a:defRPr sz="1800"/>
            </a:pPr>
            <a:r>
              <a:t>October recorded the weakest month-over-month movement at approximately -7.86%.</a:t>
            </a:r>
          </a:p>
          <a:p>
            <a:pPr>
              <a:spcAft>
                <a:spcPts val="1200"/>
              </a:spcAft>
              <a:defRPr sz="1800"/>
            </a:pPr>
            <a:r>
              <a:t>Investigate campaign, product availability, and customer activation drivers behind major movements.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Revenue contribution and product mix</a:t>
            </a:r>
          </a:p>
        </p:txBody>
      </p:sp>
      <p:pic>
        <p:nvPicPr>
          <p:cNvPr id="4" name="Picture 3" descr="produ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91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 Management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Revenue versus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Leading product: Birthday Cake with Rp 104.2M revenue.</a:t>
            </a:r>
          </a:p>
          <a:p>
            <a:pPr>
              <a:spcAft>
                <a:spcPts val="1200"/>
              </a:spcAft>
              <a:defRPr sz="1800"/>
            </a:pPr>
            <a:r>
              <a:t>High-revenue products should remain operational priorities.</a:t>
            </a:r>
          </a:p>
          <a:p>
            <a:pPr>
              <a:spcAft>
                <a:spcPts val="1200"/>
              </a:spcAft>
              <a:defRPr sz="1800"/>
            </a:pPr>
            <a:r>
              <a:t>Products with stronger margins should be evaluated for bundling and cross-selling.</a:t>
            </a:r>
          </a:p>
          <a:p>
            <a:pPr>
              <a:spcAft>
                <a:spcPts val="1200"/>
              </a:spcAft>
              <a:defRPr sz="1800"/>
            </a:pPr>
            <a:r>
              <a:t>Lower-margin products should be reviewed for pricing, cost, or product-mix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Customer economics and value distribution</a:t>
            </a:r>
          </a:p>
        </p:txBody>
      </p:sp>
      <p:pic>
        <p:nvPicPr>
          <p:cNvPr id="4" name="Picture 3" descr="custom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903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Value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CLV-based management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Customer base: 850 customers.</a:t>
            </a:r>
          </a:p>
          <a:p>
            <a:pPr>
              <a:spcAft>
                <a:spcPts val="1200"/>
              </a:spcAft>
              <a:defRPr sz="1800"/>
            </a:pPr>
            <a:r>
              <a:t>Platinum customers contribute approximately 44.52% of annualized CLV.</a:t>
            </a:r>
          </a:p>
          <a:p>
            <a:pPr>
              <a:spcAft>
                <a:spcPts val="1200"/>
              </a:spcAft>
              <a:defRPr sz="1800"/>
            </a:pPr>
            <a:r>
              <a:t>Retention should prioritize economically important customers.</a:t>
            </a:r>
          </a:p>
          <a:p>
            <a:pPr>
              <a:spcAft>
                <a:spcPts val="1200"/>
              </a:spcAft>
              <a:defRPr sz="1800"/>
            </a:pPr>
            <a:r>
              <a:t>Customer value should be managed using CLV together with observed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Opportunity prioritization</a:t>
            </a:r>
          </a:p>
        </p:txBody>
      </p:sp>
      <p:pic>
        <p:nvPicPr>
          <p:cNvPr id="4" name="Picture 3" descr="custom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903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Opportunity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Where management attention should be concentrated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Review: 184 customers, 29.70% of annualized CLV.</a:t>
            </a:r>
          </a:p>
          <a:p>
            <a:pPr>
              <a:spcAft>
                <a:spcPts val="1200"/>
              </a:spcAft>
              <a:defRPr sz="1800"/>
            </a:pPr>
            <a:r>
              <a:t>Rescue: 147 customers, 24.51% of annualized CLV.</a:t>
            </a:r>
          </a:p>
          <a:p>
            <a:pPr>
              <a:spcAft>
                <a:spcPts val="1200"/>
              </a:spcAft>
              <a:defRPr sz="1800"/>
            </a:pPr>
            <a:r>
              <a:t>Develop: 169 customers, 17.36% of annualized CLV.</a:t>
            </a:r>
          </a:p>
          <a:p>
            <a:pPr>
              <a:spcAft>
                <a:spcPts val="1200"/>
              </a:spcAft>
              <a:defRPr sz="1800"/>
            </a:pPr>
            <a:r>
              <a:t>Rescue customers warrant economically targeted recovery actions.</a:t>
            </a:r>
          </a:p>
          <a:p>
            <a:pPr>
              <a:spcAft>
                <a:spcPts val="1200"/>
              </a:spcAft>
              <a:defRPr sz="1800"/>
            </a:pPr>
            <a:r>
              <a:t>Review customers require deeper diagnosis before intervention.</a:t>
            </a:r>
          </a:p>
          <a:p>
            <a:pPr>
              <a:spcAft>
                <a:spcPts val="1200"/>
              </a:spcAft>
              <a:defRPr sz="1800"/>
            </a:pPr>
            <a:r>
              <a:t>Develop customers provide a controlled growth opportunity.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Gross margin and operating profitability</a:t>
            </a:r>
          </a:p>
        </p:txBody>
      </p:sp>
      <p:pic>
        <p:nvPicPr>
          <p:cNvPr id="4" name="Picture 3" descr="profitabili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900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Management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Areas requiring continued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Revenue volatility across months can affect planning consistency.</a:t>
            </a:r>
          </a:p>
          <a:p>
            <a:pPr>
              <a:spcAft>
                <a:spcPts val="1200"/>
              </a:spcAft>
              <a:defRPr sz="1800"/>
            </a:pPr>
            <a:r>
              <a:t>Revenue concentration among leading products creates product-mix dependency.</a:t>
            </a:r>
          </a:p>
          <a:p>
            <a:pPr>
              <a:spcAft>
                <a:spcPts val="1200"/>
              </a:spcAft>
              <a:defRPr sz="1800"/>
            </a:pPr>
            <a:r>
              <a:t>High-value customer relationships require active retention management.</a:t>
            </a:r>
          </a:p>
          <a:p>
            <a:pPr>
              <a:spcAft>
                <a:spcPts val="1200"/>
              </a:spcAft>
              <a:defRPr sz="1800"/>
            </a:pPr>
            <a:r>
              <a:t>Margin differences across products can dilute profitability if mix is unmanaged.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Priority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Protect revenue momentum — identify repeatable drivers behind strong months.</a:t>
            </a:r>
          </a:p>
          <a:p>
            <a:pPr>
              <a:spcAft>
                <a:spcPts val="1200"/>
              </a:spcAft>
              <a:defRPr sz="1800"/>
            </a:pPr>
            <a:r>
              <a:t>2. Optimize product mix — balance revenue contribution with gross margin.</a:t>
            </a:r>
          </a:p>
          <a:p>
            <a:pPr>
              <a:spcAft>
                <a:spcPts val="1200"/>
              </a:spcAft>
              <a:defRPr sz="1800"/>
            </a:pPr>
            <a:r>
              <a:t>3. Protect high-value customers — prioritize Platinum and economically important relationships.</a:t>
            </a:r>
          </a:p>
          <a:p>
            <a:pPr>
              <a:spcAft>
                <a:spcPts val="1200"/>
              </a:spcAft>
              <a:defRPr sz="1800"/>
            </a:pPr>
            <a:r>
              <a:t>4. Prioritize Rescue and Review — allocate intervention based on customer economics.</a:t>
            </a:r>
          </a:p>
          <a:p>
            <a:pPr>
              <a:spcAft>
                <a:spcPts val="1200"/>
              </a:spcAft>
              <a:defRPr sz="1800"/>
            </a:pPr>
            <a:r>
              <a:t>5. Protect profitability — ensure revenue growth translates into sustainable operating profit.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Management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Recommended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Grow revenue with discipline.</a:t>
            </a:r>
          </a:p>
          <a:p>
            <a:pPr>
              <a:spcAft>
                <a:spcPts val="1200"/>
              </a:spcAft>
              <a:defRPr sz="1800"/>
            </a:pPr>
            <a:r>
              <a:t>Protect gross margin.</a:t>
            </a:r>
          </a:p>
          <a:p>
            <a:pPr>
              <a:spcAft>
                <a:spcPts val="1200"/>
              </a:spcAft>
              <a:defRPr sz="1800"/>
            </a:pPr>
            <a:r>
              <a:t>Retain economically valuable customers.</a:t>
            </a:r>
          </a:p>
          <a:p>
            <a:pPr>
              <a:spcAft>
                <a:spcPts val="1200"/>
              </a:spcAft>
              <a:defRPr sz="1800"/>
            </a:pPr>
            <a:r>
              <a:t>Improve product-mix contribution.</a:t>
            </a:r>
          </a:p>
          <a:p>
            <a:pPr>
              <a:spcAft>
                <a:spcPts val="1200"/>
              </a:spcAft>
              <a:defRPr sz="1800"/>
            </a:pPr>
            <a:r>
              <a:t>Measure campaign and intervention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